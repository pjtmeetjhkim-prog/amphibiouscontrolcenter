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2" autoAdjust="0"/>
    <p:restoredTop sz="94660"/>
  </p:normalViewPr>
  <p:slideViewPr>
    <p:cSldViewPr snapToGrid="0">
      <p:cViewPr varScale="1">
        <p:scale>
          <a:sx n="85" d="100"/>
          <a:sy n="85" d="100"/>
        </p:scale>
        <p:origin x="68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884A8D-8271-4CCC-9063-0DEA72CDF3A9}" type="datetimeFigureOut">
              <a:rPr lang="ko-KR" altLang="en-US" smtClean="0"/>
              <a:t>25-11-11 Tuesday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F475DD-89C0-4D6A-A620-2FD1A45BB8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1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310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539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063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619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556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118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903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268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5115-2EA5-4821-8F38-9A82CA79F321}" type="datetimeFigureOut">
              <a:rPr lang="ko-KR" altLang="en-US" smtClean="0"/>
              <a:t>25-11-11 Tuesday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4E32-2CA2-4B81-89EA-0AC6202F1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36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5115-2EA5-4821-8F38-9A82CA79F321}" type="datetimeFigureOut">
              <a:rPr lang="ko-KR" altLang="en-US" smtClean="0"/>
              <a:t>25-11-11 Tuesday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4E32-2CA2-4B81-89EA-0AC6202F1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279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5115-2EA5-4821-8F38-9A82CA79F321}" type="datetimeFigureOut">
              <a:rPr lang="ko-KR" altLang="en-US" smtClean="0"/>
              <a:t>25-11-11 Tuesday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4E32-2CA2-4B81-89EA-0AC6202F1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439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5115-2EA5-4821-8F38-9A82CA79F321}" type="datetimeFigureOut">
              <a:rPr lang="ko-KR" altLang="en-US" smtClean="0"/>
              <a:t>25-11-11 Tuesday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4E32-2CA2-4B81-89EA-0AC6202F1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73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5115-2EA5-4821-8F38-9A82CA79F321}" type="datetimeFigureOut">
              <a:rPr lang="ko-KR" altLang="en-US" smtClean="0"/>
              <a:t>25-11-11 Tuesday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4E32-2CA2-4B81-89EA-0AC6202F1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56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5115-2EA5-4821-8F38-9A82CA79F321}" type="datetimeFigureOut">
              <a:rPr lang="ko-KR" altLang="en-US" smtClean="0"/>
              <a:t>25-11-11 Tuesday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4E32-2CA2-4B81-89EA-0AC6202F1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79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5115-2EA5-4821-8F38-9A82CA79F321}" type="datetimeFigureOut">
              <a:rPr lang="ko-KR" altLang="en-US" smtClean="0"/>
              <a:t>25-11-11 Tuesday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4E32-2CA2-4B81-89EA-0AC6202F1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59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5115-2EA5-4821-8F38-9A82CA79F321}" type="datetimeFigureOut">
              <a:rPr lang="ko-KR" altLang="en-US" smtClean="0"/>
              <a:t>25-11-11 Tuesday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4E32-2CA2-4B81-89EA-0AC6202F1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63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5115-2EA5-4821-8F38-9A82CA79F321}" type="datetimeFigureOut">
              <a:rPr lang="ko-KR" altLang="en-US" smtClean="0"/>
              <a:t>25-11-11 Tuesday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4E32-2CA2-4B81-89EA-0AC6202F1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920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5115-2EA5-4821-8F38-9A82CA79F321}" type="datetimeFigureOut">
              <a:rPr lang="ko-KR" altLang="en-US" smtClean="0"/>
              <a:t>25-11-11 Tuesday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4E32-2CA2-4B81-89EA-0AC6202F1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362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5115-2EA5-4821-8F38-9A82CA79F321}" type="datetimeFigureOut">
              <a:rPr lang="ko-KR" altLang="en-US" smtClean="0"/>
              <a:t>25-11-11 Tuesday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44E32-2CA2-4B81-89EA-0AC6202F1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27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14867" y="255374"/>
            <a:ext cx="11201400" cy="625076"/>
          </a:xfrm>
        </p:spPr>
        <p:txBody>
          <a:bodyPr>
            <a:noAutofit/>
          </a:bodyPr>
          <a:lstStyle>
            <a:lvl1pPr marL="0" algn="l" defTabSz="342900" rtl="0" eaLnBrk="1" latinLnBrk="0" hangingPunct="1">
              <a:defRPr lang="en-US" sz="2400" b="1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1849" y="1070198"/>
            <a:ext cx="11561075" cy="5131731"/>
          </a:xfrm>
        </p:spPr>
        <p:txBody>
          <a:bodyPr/>
          <a:lstStyle>
            <a:lvl1pPr marL="216000" indent="-216000" algn="l" defTabSz="342900" rtl="0" eaLnBrk="1" latinLnBrk="0" hangingPunct="1">
              <a:lnSpc>
                <a:spcPct val="13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ko-KR" altLang="en-US" sz="1600" b="1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1pPr>
            <a:lvl2pPr marL="351000" indent="-171450">
              <a:spcBef>
                <a:spcPts val="600"/>
              </a:spcBef>
              <a:buFontTx/>
              <a:buBlip>
                <a:blip r:embed="rId3"/>
              </a:buBlip>
              <a:defRPr lang="ko-KR" altLang="en-US" sz="14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2pPr>
            <a:lvl3pPr marL="486000" indent="-108000">
              <a:buClr>
                <a:schemeClr val="accent1">
                  <a:lumMod val="60000"/>
                  <a:lumOff val="40000"/>
                </a:schemeClr>
              </a:buClr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3pPr>
            <a:lvl4pPr marL="648000" indent="-108000">
              <a:buClr>
                <a:schemeClr val="accent1">
                  <a:lumMod val="60000"/>
                  <a:lumOff val="40000"/>
                </a:schemeClr>
              </a:buClr>
              <a:buFont typeface="맑은 고딕" panose="020B0503020000020004" pitchFamily="50" charset="-127"/>
              <a:buChar char="-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03BC630-89AA-4C2C-A8B1-538541DBDA45}"/>
              </a:ext>
            </a:extLst>
          </p:cNvPr>
          <p:cNvGrpSpPr/>
          <p:nvPr userDrawn="1"/>
        </p:nvGrpSpPr>
        <p:grpSpPr>
          <a:xfrm flipV="1">
            <a:off x="1" y="6786000"/>
            <a:ext cx="12192001" cy="72000"/>
            <a:chOff x="762001" y="6793200"/>
            <a:chExt cx="9144000" cy="648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F7BD349-2BBF-4D7D-A7AE-1C2E0583FEED}"/>
                </a:ext>
              </a:extLst>
            </p:cNvPr>
            <p:cNvSpPr/>
            <p:nvPr/>
          </p:nvSpPr>
          <p:spPr>
            <a:xfrm>
              <a:off x="762001" y="6793200"/>
              <a:ext cx="9143999" cy="64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B3A9358-781B-445A-A5B2-28C23CBEAC15}"/>
                </a:ext>
              </a:extLst>
            </p:cNvPr>
            <p:cNvSpPr/>
            <p:nvPr/>
          </p:nvSpPr>
          <p:spPr>
            <a:xfrm>
              <a:off x="9474201" y="6793200"/>
              <a:ext cx="431800" cy="64800"/>
            </a:xfrm>
            <a:prstGeom prst="rect">
              <a:avLst/>
            </a:prstGeom>
            <a:solidFill>
              <a:srgbClr val="0B7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786D18C-7FBD-4960-AD03-502F925D8FFF}"/>
              </a:ext>
            </a:extLst>
          </p:cNvPr>
          <p:cNvGrpSpPr/>
          <p:nvPr userDrawn="1"/>
        </p:nvGrpSpPr>
        <p:grpSpPr>
          <a:xfrm>
            <a:off x="0" y="0"/>
            <a:ext cx="1824000" cy="108000"/>
            <a:chOff x="-563928" y="562129"/>
            <a:chExt cx="5171738" cy="431800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6A4723CA-7CB9-4869-A989-246E9D0F5D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3070" y="562129"/>
              <a:ext cx="3614740" cy="431800"/>
            </a:xfrm>
            <a:custGeom>
              <a:avLst/>
              <a:gdLst>
                <a:gd name="T0" fmla="*/ 0 w 961"/>
                <a:gd name="T1" fmla="*/ 112 h 112"/>
                <a:gd name="T2" fmla="*/ 825 w 961"/>
                <a:gd name="T3" fmla="*/ 112 h 112"/>
                <a:gd name="T4" fmla="*/ 949 w 961"/>
                <a:gd name="T5" fmla="*/ 33 h 112"/>
                <a:gd name="T6" fmla="*/ 961 w 961"/>
                <a:gd name="T7" fmla="*/ 0 h 112"/>
                <a:gd name="T8" fmla="*/ 0 w 961"/>
                <a:gd name="T9" fmla="*/ 0 h 112"/>
                <a:gd name="T10" fmla="*/ 0 w 961"/>
                <a:gd name="T11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61" h="112">
                  <a:moveTo>
                    <a:pt x="0" y="112"/>
                  </a:moveTo>
                  <a:cubicBezTo>
                    <a:pt x="825" y="112"/>
                    <a:pt x="825" y="112"/>
                    <a:pt x="825" y="112"/>
                  </a:cubicBezTo>
                  <a:cubicBezTo>
                    <a:pt x="869" y="112"/>
                    <a:pt x="924" y="77"/>
                    <a:pt x="949" y="33"/>
                  </a:cubicBezTo>
                  <a:cubicBezTo>
                    <a:pt x="956" y="21"/>
                    <a:pt x="959" y="10"/>
                    <a:pt x="96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12"/>
                  </a:lnTo>
                  <a:close/>
                </a:path>
              </a:pathLst>
            </a:custGeom>
            <a:solidFill>
              <a:srgbClr val="45AF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3938" tIns="36969" rIns="73938" bIns="3696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56">
                <a:solidFill>
                  <a:srgbClr val="0070C0"/>
                </a:solidFill>
              </a:endParaRPr>
            </a:p>
          </p:txBody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E1E17392-60DD-43C2-AAC0-6C1DCF99E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24520" y="562129"/>
              <a:ext cx="3614738" cy="431800"/>
            </a:xfrm>
            <a:custGeom>
              <a:avLst/>
              <a:gdLst>
                <a:gd name="T0" fmla="*/ 0 w 961"/>
                <a:gd name="T1" fmla="*/ 112 h 112"/>
                <a:gd name="T2" fmla="*/ 825 w 961"/>
                <a:gd name="T3" fmla="*/ 112 h 112"/>
                <a:gd name="T4" fmla="*/ 949 w 961"/>
                <a:gd name="T5" fmla="*/ 33 h 112"/>
                <a:gd name="T6" fmla="*/ 961 w 961"/>
                <a:gd name="T7" fmla="*/ 0 h 112"/>
                <a:gd name="T8" fmla="*/ 0 w 961"/>
                <a:gd name="T9" fmla="*/ 0 h 112"/>
                <a:gd name="T10" fmla="*/ 0 w 961"/>
                <a:gd name="T11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61" h="112">
                  <a:moveTo>
                    <a:pt x="0" y="112"/>
                  </a:moveTo>
                  <a:cubicBezTo>
                    <a:pt x="825" y="112"/>
                    <a:pt x="825" y="112"/>
                    <a:pt x="825" y="112"/>
                  </a:cubicBezTo>
                  <a:cubicBezTo>
                    <a:pt x="869" y="112"/>
                    <a:pt x="924" y="77"/>
                    <a:pt x="949" y="33"/>
                  </a:cubicBezTo>
                  <a:cubicBezTo>
                    <a:pt x="956" y="21"/>
                    <a:pt x="959" y="10"/>
                    <a:pt x="96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00"/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0A214BE6-5877-467B-8B02-E133C3D4F6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563928" y="562129"/>
              <a:ext cx="3614738" cy="431800"/>
            </a:xfrm>
            <a:custGeom>
              <a:avLst/>
              <a:gdLst>
                <a:gd name="T0" fmla="*/ 0 w 961"/>
                <a:gd name="T1" fmla="*/ 112 h 112"/>
                <a:gd name="T2" fmla="*/ 825 w 961"/>
                <a:gd name="T3" fmla="*/ 112 h 112"/>
                <a:gd name="T4" fmla="*/ 949 w 961"/>
                <a:gd name="T5" fmla="*/ 33 h 112"/>
                <a:gd name="T6" fmla="*/ 961 w 961"/>
                <a:gd name="T7" fmla="*/ 0 h 112"/>
                <a:gd name="T8" fmla="*/ 0 w 961"/>
                <a:gd name="T9" fmla="*/ 0 h 112"/>
                <a:gd name="T10" fmla="*/ 0 w 961"/>
                <a:gd name="T11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61" h="112">
                  <a:moveTo>
                    <a:pt x="0" y="112"/>
                  </a:moveTo>
                  <a:cubicBezTo>
                    <a:pt x="825" y="112"/>
                    <a:pt x="825" y="112"/>
                    <a:pt x="825" y="112"/>
                  </a:cubicBezTo>
                  <a:cubicBezTo>
                    <a:pt x="869" y="112"/>
                    <a:pt x="924" y="77"/>
                    <a:pt x="949" y="33"/>
                  </a:cubicBezTo>
                  <a:cubicBezTo>
                    <a:pt x="956" y="21"/>
                    <a:pt x="959" y="10"/>
                    <a:pt x="96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12"/>
                  </a:lnTo>
                  <a:close/>
                </a:path>
              </a:pathLst>
            </a:custGeom>
            <a:solidFill>
              <a:srgbClr val="0B70B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 sz="1400"/>
            </a:p>
          </p:txBody>
        </p:sp>
      </p:grp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A5B4779-4FA1-4D7D-87F2-2C7405A21397}"/>
              </a:ext>
            </a:extLst>
          </p:cNvPr>
          <p:cNvCxnSpPr/>
          <p:nvPr userDrawn="1"/>
        </p:nvCxnSpPr>
        <p:spPr>
          <a:xfrm>
            <a:off x="575734" y="880450"/>
            <a:ext cx="110405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 descr="D:\12. FTC_downloads\11.PNG">
            <a:extLst>
              <a:ext uri="{FF2B5EF4-FFF2-40B4-BE49-F238E27FC236}">
                <a16:creationId xmlns:a16="http://schemas.microsoft.com/office/drawing/2014/main" id="{ECFE5053-E7C5-3485-D837-9F6090D920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00" y="6303157"/>
            <a:ext cx="2405427" cy="345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6869A65-ECC8-C1D2-61CA-1EAC7F6492E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85577" y="6237064"/>
            <a:ext cx="1032373" cy="39593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1A854F3-011F-505C-D673-62ED413D526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740512" y="6296120"/>
            <a:ext cx="727733" cy="3450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1BED135-F681-B419-0158-B78E647153C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765002" y="6303156"/>
            <a:ext cx="2250565" cy="34015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68C140B-5575-9FE8-9D55-8CBBCE96362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974145" y="6237064"/>
            <a:ext cx="1032375" cy="44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04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F5115-2EA5-4821-8F38-9A82CA79F321}" type="datetimeFigureOut">
              <a:rPr lang="ko-KR" altLang="en-US" smtClean="0"/>
              <a:t>25-11-11 Tuesday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44E32-2CA2-4B81-89EA-0AC6202F1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304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hyperlink" Target="https://nodejs.org/ko/downloa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-scm.com/" TargetMode="External"/><Relationship Id="rId5" Type="http://schemas.openxmlformats.org/officeDocument/2006/relationships/hyperlink" Target="https://github.com/pjtmeetjhkim-prog/AmphibiousControlCenter/tree/main/Apps/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>
            <a:spLocks/>
          </p:cNvSpPr>
          <p:nvPr/>
        </p:nvSpPr>
        <p:spPr>
          <a:xfrm>
            <a:off x="604163" y="964911"/>
            <a:ext cx="11012104" cy="5131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6000" indent="-216000" algn="l" defTabSz="342900" rtl="0" eaLnBrk="1" latinLnBrk="0" hangingPunct="1">
              <a:lnSpc>
                <a:spcPct val="130000"/>
              </a:lnSpc>
              <a:spcBef>
                <a:spcPct val="20000"/>
              </a:spcBef>
              <a:buSzPct val="100000"/>
              <a:buFontTx/>
              <a:buBlip>
                <a:blip r:embed="rId3"/>
              </a:buBlip>
              <a:defRPr lang="ko-KR" altLang="en-US" sz="1600" b="1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1pPr>
            <a:lvl2pPr marL="351000" indent="-17145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FontTx/>
              <a:buBlip>
                <a:blip r:embed="rId4"/>
              </a:buBlip>
              <a:defRPr lang="ko-KR" altLang="en-US" sz="14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2pPr>
            <a:lvl3pPr marL="486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3pPr>
            <a:lvl4pPr marL="648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맑은 고딕" panose="020B0503020000020004" pitchFamily="50" charset="-127"/>
              <a:buChar char="-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지휘통제소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1"/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시스템 모듈 구분</a:t>
            </a:r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(git </a:t>
            </a:r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폴더 기준</a:t>
            </a:r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)</a:t>
            </a:r>
          </a:p>
          <a:p>
            <a:pPr lvl="2"/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임무통제 </a:t>
            </a:r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– MMS (Mission Manager Server – MD)</a:t>
            </a:r>
          </a:p>
          <a:p>
            <a:pPr lvl="3"/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소켓 </a:t>
            </a:r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: Main Server</a:t>
            </a:r>
          </a:p>
          <a:p>
            <a:pPr lvl="2"/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임무통제 </a:t>
            </a:r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GUI – MMC (Mission Manager Control – MD)</a:t>
            </a:r>
          </a:p>
          <a:p>
            <a:pPr lvl="2"/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임무관리 </a:t>
            </a:r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– MMA (</a:t>
            </a:r>
            <a:r>
              <a:rPr lang="en-US" altLang="ko-KR" sz="160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Mission Manager Algorithm – </a:t>
            </a:r>
            <a:r>
              <a:rPr lang="en-US" altLang="ko-KR" sz="160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KIRO</a:t>
            </a:r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)</a:t>
            </a:r>
            <a:endParaRPr lang="en-US" altLang="ko-KR" sz="160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2"/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운용통제 </a:t>
            </a:r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– OMC (Operate Machine Control – MD)</a:t>
            </a:r>
          </a:p>
          <a:p>
            <a:pPr lvl="2"/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로봇플랫폼 </a:t>
            </a:r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– Robot (KIRO)</a:t>
            </a:r>
          </a:p>
          <a:p>
            <a:pPr lvl="2"/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표적처리알고리즘 </a:t>
            </a:r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– Detector(GIST)</a:t>
            </a:r>
          </a:p>
          <a:p>
            <a:pPr lvl="3"/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</a:t>
            </a:r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소켓 </a:t>
            </a:r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: Server [</a:t>
            </a:r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감시영상 표적처리</a:t>
            </a:r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]</a:t>
            </a:r>
          </a:p>
          <a:p>
            <a:pPr lvl="2"/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감시장비 </a:t>
            </a:r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– Detector</a:t>
            </a:r>
          </a:p>
          <a:p>
            <a:pPr lvl="3"/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</a:t>
            </a:r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소켓 </a:t>
            </a:r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: Server [</a:t>
            </a:r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감시영상 및 장비제어</a:t>
            </a:r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]</a:t>
            </a:r>
            <a:endParaRPr lang="en-US" altLang="ko-KR" sz="1600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n-ea"/>
              </a:rPr>
              <a:t>[</a:t>
            </a:r>
            <a:r>
              <a:rPr lang="ko-KR" altLang="en-US" dirty="0">
                <a:latin typeface="+mn-ea"/>
              </a:rPr>
              <a:t>별첨</a:t>
            </a:r>
            <a:r>
              <a:rPr lang="en-US" altLang="ko-KR" dirty="0">
                <a:latin typeface="+mn-ea"/>
              </a:rPr>
              <a:t>] </a:t>
            </a:r>
            <a:r>
              <a:rPr lang="ko-KR" altLang="en-US" dirty="0">
                <a:latin typeface="+mn-ea"/>
              </a:rPr>
              <a:t>상세 설계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지휘통제소</a:t>
            </a:r>
            <a:endParaRPr lang="ko-KR" altLang="en-US" dirty="0">
              <a:latin typeface="+mn-ea"/>
              <a:ea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DB581B6-A32C-966D-6E5C-0C6F0D94A2D4}"/>
              </a:ext>
            </a:extLst>
          </p:cNvPr>
          <p:cNvGrpSpPr/>
          <p:nvPr/>
        </p:nvGrpSpPr>
        <p:grpSpPr>
          <a:xfrm>
            <a:off x="8846892" y="217819"/>
            <a:ext cx="2828041" cy="638715"/>
            <a:chOff x="6315958" y="170912"/>
            <a:chExt cx="2828041" cy="638715"/>
          </a:xfrm>
        </p:grpSpPr>
        <p:sp>
          <p:nvSpPr>
            <p:cNvPr id="4" name="AutoShape 39">
              <a:extLst>
                <a:ext uri="{FF2B5EF4-FFF2-40B4-BE49-F238E27FC236}">
                  <a16:creationId xmlns:a16="http://schemas.microsoft.com/office/drawing/2014/main" id="{D9519DBC-9008-2142-6196-137877D8672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chemeClr val="accent4">
                    <a:alpha val="70000"/>
                  </a:schemeClr>
                </a:gs>
                <a:gs pos="100000">
                  <a:schemeClr val="accent4">
                    <a:alpha val="10000"/>
                    <a:lumMod val="20000"/>
                    <a:lumOff val="80000"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" name="Rectangle 45">
              <a:extLst>
                <a:ext uri="{FF2B5EF4-FFF2-40B4-BE49-F238E27FC236}">
                  <a16:creationId xmlns:a16="http://schemas.microsoft.com/office/drawing/2014/main" id="{96DD40AA-3BC5-B106-7DE6-59A765653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56268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n-ea"/>
                </a:rPr>
                <a:t>㈜</a:t>
              </a:r>
              <a:r>
                <a:rPr lang="ko-KR" altLang="en-US" sz="2000" b="1" dirty="0" err="1">
                  <a:solidFill>
                    <a:schemeClr val="tx2"/>
                  </a:solidFill>
                  <a:latin typeface="+mn-ea"/>
                </a:rPr>
                <a:t>모션다이나믹스</a:t>
              </a:r>
              <a:endParaRPr lang="ko-KR" altLang="en-US" sz="2000" b="1" dirty="0">
                <a:solidFill>
                  <a:schemeClr val="tx2"/>
                </a:solidFill>
                <a:latin typeface="+mn-ea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536189" y="5119813"/>
            <a:ext cx="1735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[</a:t>
            </a:r>
            <a:r>
              <a:rPr lang="ko-KR" altLang="en-US" sz="100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지휘통제소 </a:t>
            </a:r>
            <a:r>
              <a:rPr lang="en-US" altLang="ko-KR" sz="100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SW </a:t>
            </a:r>
            <a:r>
              <a:rPr lang="ko-KR" altLang="en-US" sz="100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구성도</a:t>
            </a:r>
            <a:r>
              <a:rPr lang="en-US" altLang="ko-KR" sz="100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]</a:t>
            </a:r>
            <a:endParaRPr lang="ko-KR" altLang="en-US" sz="1000" dirty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6898824" y="1809644"/>
            <a:ext cx="4776109" cy="3108600"/>
            <a:chOff x="6898824" y="1809644"/>
            <a:chExt cx="4776109" cy="3108600"/>
          </a:xfrm>
        </p:grpSpPr>
        <p:sp>
          <p:nvSpPr>
            <p:cNvPr id="36" name="모서리가 둥근 직사각형 35"/>
            <p:cNvSpPr/>
            <p:nvPr/>
          </p:nvSpPr>
          <p:spPr>
            <a:xfrm>
              <a:off x="9447060" y="2362200"/>
              <a:ext cx="2227873" cy="2556044"/>
            </a:xfrm>
            <a:prstGeom prst="roundRect">
              <a:avLst/>
            </a:prstGeom>
            <a:solidFill>
              <a:schemeClr val="accent6">
                <a:alpha val="63000"/>
              </a:schemeClr>
            </a:solidFill>
            <a:effectLst>
              <a:outerShdw blurRad="50800" dist="508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모서리가 둥근 직사각형 34"/>
            <p:cNvSpPr/>
            <p:nvPr/>
          </p:nvSpPr>
          <p:spPr>
            <a:xfrm>
              <a:off x="6898824" y="2362200"/>
              <a:ext cx="2505306" cy="255604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63000"/>
              </a:schemeClr>
            </a:solidFill>
            <a:effectLst>
              <a:outerShdw blurRad="50800" dist="508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" name="그룹 10"/>
            <p:cNvGrpSpPr/>
            <p:nvPr/>
          </p:nvGrpSpPr>
          <p:grpSpPr>
            <a:xfrm>
              <a:off x="7003147" y="1809644"/>
              <a:ext cx="4627761" cy="2936368"/>
              <a:chOff x="6628948" y="1838219"/>
              <a:chExt cx="4627761" cy="2936368"/>
            </a:xfrm>
          </p:grpSpPr>
          <p:sp>
            <p:nvSpPr>
              <p:cNvPr id="12" name="직사각형 11"/>
              <p:cNvSpPr/>
              <p:nvPr/>
            </p:nvSpPr>
            <p:spPr>
              <a:xfrm>
                <a:off x="8522628" y="1838219"/>
                <a:ext cx="1014609" cy="3444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smtClean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MMC(GUI)</a:t>
                </a:r>
                <a:endParaRPr lang="ko-KR" altLang="en-US" sz="1100" smtClean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8434944" y="2587693"/>
                <a:ext cx="1189974" cy="3444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smtClean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MMS(Dataset)</a:t>
                </a:r>
                <a:endParaRPr lang="ko-KR" altLang="en-US" sz="1100" smtClean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5" name="직사각형 14"/>
              <p:cNvSpPr/>
              <p:nvPr/>
            </p:nvSpPr>
            <p:spPr>
              <a:xfrm>
                <a:off x="8522627" y="3337167"/>
                <a:ext cx="1014609" cy="3444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smtClean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OMC(GUI)</a:t>
                </a:r>
                <a:endParaRPr lang="ko-KR" altLang="en-US" sz="1100" smtClean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7818919" y="4430122"/>
                <a:ext cx="1014609" cy="3444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smtClean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Robot</a:t>
                </a:r>
              </a:p>
              <a:p>
                <a:pPr algn="ctr"/>
                <a:r>
                  <a:rPr lang="en-US" altLang="ko-KR" sz="1100" smtClean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(KIRO)</a:t>
                </a:r>
                <a:endParaRPr lang="ko-KR" altLang="en-US" sz="1100" smtClean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10128019" y="3337166"/>
                <a:ext cx="1128690" cy="3444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smtClean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Detector(GIST</a:t>
                </a:r>
                <a:r>
                  <a:rPr lang="en-US" altLang="ko-KR" sz="1100" smtClean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)</a:t>
                </a:r>
                <a:endParaRPr lang="ko-KR" altLang="en-US" sz="1100" smtClean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9210289" y="4430122"/>
                <a:ext cx="1014609" cy="3444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smtClean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Observer</a:t>
                </a:r>
              </a:p>
              <a:p>
                <a:pPr algn="ctr"/>
                <a:r>
                  <a:rPr lang="en-US" altLang="ko-KR" sz="1100" smtClean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(EOIR)</a:t>
                </a:r>
                <a:endParaRPr lang="ko-KR" altLang="en-US" sz="1100" smtClean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cxnSp>
            <p:nvCxnSpPr>
              <p:cNvPr id="19" name="직선 화살표 연결선 18"/>
              <p:cNvCxnSpPr>
                <a:stCxn id="12" idx="2"/>
                <a:endCxn id="14" idx="0"/>
              </p:cNvCxnSpPr>
              <p:nvPr/>
            </p:nvCxnSpPr>
            <p:spPr>
              <a:xfrm flipH="1">
                <a:off x="9029931" y="2182684"/>
                <a:ext cx="2" cy="405009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화살표 연결선 19"/>
              <p:cNvCxnSpPr/>
              <p:nvPr/>
            </p:nvCxnSpPr>
            <p:spPr>
              <a:xfrm flipH="1">
                <a:off x="8847783" y="2932158"/>
                <a:ext cx="2" cy="405009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화살표 연결선 23"/>
              <p:cNvCxnSpPr/>
              <p:nvPr/>
            </p:nvCxnSpPr>
            <p:spPr>
              <a:xfrm flipH="1">
                <a:off x="9231258" y="2932157"/>
                <a:ext cx="2" cy="405009"/>
              </a:xfrm>
              <a:prstGeom prst="straightConnector1">
                <a:avLst/>
              </a:prstGeom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화살표 연결선 24"/>
              <p:cNvCxnSpPr>
                <a:stCxn id="17" idx="1"/>
                <a:endCxn id="15" idx="3"/>
              </p:cNvCxnSpPr>
              <p:nvPr/>
            </p:nvCxnSpPr>
            <p:spPr>
              <a:xfrm flipH="1">
                <a:off x="9537236" y="3509398"/>
                <a:ext cx="590783" cy="2"/>
              </a:xfrm>
              <a:prstGeom prst="straightConnector1">
                <a:avLst/>
              </a:prstGeom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꺾인 연결선 25"/>
              <p:cNvCxnSpPr>
                <a:endCxn id="18" idx="0"/>
              </p:cNvCxnSpPr>
              <p:nvPr/>
            </p:nvCxnSpPr>
            <p:spPr>
              <a:xfrm rot="16200000" flipH="1">
                <a:off x="9101998" y="3814526"/>
                <a:ext cx="723886" cy="507305"/>
              </a:xfrm>
              <a:prstGeom prst="bentConnector3">
                <a:avLst/>
              </a:prstGeom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꺾인 연결선 26"/>
              <p:cNvCxnSpPr>
                <a:endCxn id="16" idx="0"/>
              </p:cNvCxnSpPr>
              <p:nvPr/>
            </p:nvCxnSpPr>
            <p:spPr>
              <a:xfrm rot="5400000">
                <a:off x="8217933" y="3814526"/>
                <a:ext cx="723887" cy="507304"/>
              </a:xfrm>
              <a:prstGeom prst="bentConnector3">
                <a:avLst/>
              </a:prstGeom>
              <a:ln w="28575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직사각형 27"/>
              <p:cNvSpPr/>
              <p:nvPr/>
            </p:nvSpPr>
            <p:spPr>
              <a:xfrm>
                <a:off x="6628948" y="2587693"/>
                <a:ext cx="1189974" cy="3444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smtClean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MMA(KIRO)</a:t>
                </a:r>
                <a:endParaRPr lang="ko-KR" altLang="en-US" sz="1100" smtClean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cxnSp>
            <p:nvCxnSpPr>
              <p:cNvPr id="29" name="직선 화살표 연결선 28"/>
              <p:cNvCxnSpPr>
                <a:stCxn id="28" idx="3"/>
                <a:endCxn id="14" idx="1"/>
              </p:cNvCxnSpPr>
              <p:nvPr/>
            </p:nvCxnSpPr>
            <p:spPr>
              <a:xfrm>
                <a:off x="7818922" y="2759926"/>
                <a:ext cx="616022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21449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>
            <a:spLocks/>
          </p:cNvSpPr>
          <p:nvPr/>
        </p:nvSpPr>
        <p:spPr>
          <a:xfrm>
            <a:off x="604163" y="964911"/>
            <a:ext cx="11012104" cy="5131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6000" indent="-216000" algn="l" defTabSz="342900" rtl="0" eaLnBrk="1" latinLnBrk="0" hangingPunct="1">
              <a:lnSpc>
                <a:spcPct val="130000"/>
              </a:lnSpc>
              <a:spcBef>
                <a:spcPct val="20000"/>
              </a:spcBef>
              <a:buSzPct val="100000"/>
              <a:buFontTx/>
              <a:buBlip>
                <a:blip r:embed="rId3"/>
              </a:buBlip>
              <a:defRPr lang="ko-KR" altLang="en-US" sz="1600" b="1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1pPr>
            <a:lvl2pPr marL="351000" indent="-17145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FontTx/>
              <a:buBlip>
                <a:blip r:embed="rId4"/>
              </a:buBlip>
              <a:defRPr lang="ko-KR" altLang="en-US" sz="14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2pPr>
            <a:lvl3pPr marL="486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3pPr>
            <a:lvl4pPr marL="648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맑은 고딕" panose="020B0503020000020004" pitchFamily="50" charset="-127"/>
              <a:buChar char="-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소프트웨어 원격 연동 작업 주소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1"/>
            <a:r>
              <a:rPr lang="en-US" altLang="ko-KR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  <a:hlinkClick r:id="rId5"/>
              </a:rPr>
              <a:t>https</a:t>
            </a:r>
            <a:r>
              <a:rPr lang="en-US" altLang="ko-KR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  <a:hlinkClick r:id="rId5"/>
              </a:rPr>
              <a:t>://</a:t>
            </a:r>
            <a:r>
              <a:rPr lang="en-US" altLang="ko-KR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  <a:hlinkClick r:id="rId5"/>
              </a:rPr>
              <a:t>github.com/pjtmeetjhkim-prog/AmphibiousControlCenter/tree/main/Apps/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1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메인 참조 프로젝트 </a:t>
            </a:r>
            <a:r>
              <a:rPr lang="en-US" altLang="ko-KR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[main]</a:t>
            </a:r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1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필요 별도 데이터</a:t>
            </a:r>
            <a:r>
              <a:rPr lang="en-US" altLang="ko-KR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</a:t>
            </a:r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업로드 경로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2"/>
            <a:r>
              <a:rPr lang="en-US" altLang="ko-KR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[kiro] / [md] </a:t>
            </a:r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브렌치</a:t>
            </a:r>
            <a:r>
              <a:rPr lang="en-US" altLang="ko-KR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(</a:t>
            </a:r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프로젝트</a:t>
            </a:r>
            <a:r>
              <a:rPr lang="en-US" altLang="ko-KR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)</a:t>
            </a:r>
          </a:p>
          <a:p>
            <a:pPr lvl="3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해당 경로 별도 제작 소프트웨어 업데이트 업로드</a:t>
            </a:r>
            <a:r>
              <a:rPr lang="en-US" altLang="ko-KR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(push) &gt;&gt; </a:t>
            </a:r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공유 및 테스트 활용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3"/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소프트웨어 원격 작업 진행 사전 설치 필요 사항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1"/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Git </a:t>
            </a:r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설치</a:t>
            </a:r>
            <a:endParaRPr lang="en-US" altLang="ko-KR" sz="1600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2"/>
            <a:r>
              <a:rPr lang="en-US" altLang="ko-KR" u="sng" dirty="0">
                <a:hlinkClick r:id="rId6"/>
              </a:rPr>
              <a:t>https://git-scm.com/</a:t>
            </a:r>
            <a:endParaRPr lang="en-US" altLang="ko-KR" sz="1400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1"/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Powershell </a:t>
            </a:r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상위 버전 설치</a:t>
            </a:r>
            <a:endParaRPr lang="en-US" altLang="ko-KR" sz="1600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1"/>
            <a:r>
              <a:rPr lang="en-US" altLang="ko-KR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Node.Js </a:t>
            </a:r>
            <a:r>
              <a:rPr lang="ko-KR" altLang="en-US" sz="1600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설치</a:t>
            </a:r>
            <a:endParaRPr lang="en-US" altLang="ko-KR" sz="1600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2"/>
            <a:r>
              <a:rPr lang="en-US" altLang="ko-KR" u="sng" dirty="0">
                <a:hlinkClick r:id="rId7"/>
              </a:rPr>
              <a:t>https://nodejs.org/ko/download</a:t>
            </a:r>
            <a:endParaRPr lang="en-US" altLang="ko-KR" sz="1400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1"/>
            <a:r>
              <a:rPr lang="ko-KR" altLang="en-US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각 폴더 하위에 </a:t>
            </a:r>
            <a:r>
              <a:rPr lang="en-US" altLang="ko-KR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readme.md </a:t>
            </a:r>
            <a:r>
              <a:rPr lang="ko-KR" altLang="en-US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에서 </a:t>
            </a:r>
            <a:r>
              <a:rPr lang="ko-KR" altLang="en-US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세부 </a:t>
            </a:r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필요 사항 별도 확인</a:t>
            </a:r>
            <a:endParaRPr lang="en-US" altLang="ko-KR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2"/>
            <a:r>
              <a:rPr lang="ko-KR" altLang="en-US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프로젝트 설치 및 실행 시 발생 에러 사전 대비</a:t>
            </a:r>
            <a:endParaRPr lang="en-US" altLang="ko-KR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3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실행 에러 예시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marL="540000" lvl="3" indent="0">
              <a:buNone/>
            </a:pPr>
            <a:r>
              <a:rPr lang="en-US" altLang="ko-KR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: [ModuleNotFoundError : No module named ‘PySide6’   </a:t>
            </a:r>
            <a:endParaRPr lang="en-US" altLang="ko-KR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1"/>
            <a:endParaRPr lang="en-US" altLang="ko-KR" sz="1600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n-ea"/>
              </a:rPr>
              <a:t>[</a:t>
            </a:r>
            <a:r>
              <a:rPr lang="ko-KR" altLang="en-US" dirty="0">
                <a:latin typeface="+mn-ea"/>
              </a:rPr>
              <a:t>별첨</a:t>
            </a:r>
            <a:r>
              <a:rPr lang="en-US" altLang="ko-KR">
                <a:latin typeface="+mn-ea"/>
              </a:rPr>
              <a:t>] </a:t>
            </a:r>
            <a:r>
              <a:rPr lang="ko-KR" altLang="en-US" smtClean="0">
                <a:latin typeface="+mn-ea"/>
              </a:rPr>
              <a:t>소프트웨어 원격 연동 작업</a:t>
            </a:r>
            <a:endParaRPr lang="ko-KR" altLang="en-US" dirty="0">
              <a:latin typeface="+mn-ea"/>
              <a:ea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DB581B6-A32C-966D-6E5C-0C6F0D94A2D4}"/>
              </a:ext>
            </a:extLst>
          </p:cNvPr>
          <p:cNvGrpSpPr/>
          <p:nvPr/>
        </p:nvGrpSpPr>
        <p:grpSpPr>
          <a:xfrm>
            <a:off x="8846892" y="217819"/>
            <a:ext cx="2828041" cy="638715"/>
            <a:chOff x="6315958" y="170912"/>
            <a:chExt cx="2828041" cy="638715"/>
          </a:xfrm>
        </p:grpSpPr>
        <p:sp>
          <p:nvSpPr>
            <p:cNvPr id="4" name="AutoShape 39">
              <a:extLst>
                <a:ext uri="{FF2B5EF4-FFF2-40B4-BE49-F238E27FC236}">
                  <a16:creationId xmlns:a16="http://schemas.microsoft.com/office/drawing/2014/main" id="{D9519DBC-9008-2142-6196-137877D8672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chemeClr val="accent4">
                    <a:alpha val="70000"/>
                  </a:schemeClr>
                </a:gs>
                <a:gs pos="100000">
                  <a:schemeClr val="accent4">
                    <a:alpha val="10000"/>
                    <a:lumMod val="20000"/>
                    <a:lumOff val="80000"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" name="Rectangle 45">
              <a:extLst>
                <a:ext uri="{FF2B5EF4-FFF2-40B4-BE49-F238E27FC236}">
                  <a16:creationId xmlns:a16="http://schemas.microsoft.com/office/drawing/2014/main" id="{96DD40AA-3BC5-B106-7DE6-59A765653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56268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n-ea"/>
                </a:rPr>
                <a:t>㈜</a:t>
              </a:r>
              <a:r>
                <a:rPr lang="ko-KR" altLang="en-US" sz="2000" b="1" dirty="0" err="1">
                  <a:solidFill>
                    <a:schemeClr val="tx2"/>
                  </a:solidFill>
                  <a:latin typeface="+mn-ea"/>
                </a:rPr>
                <a:t>모션다이나믹스</a:t>
              </a:r>
              <a:endParaRPr lang="ko-KR" altLang="en-US" sz="2000" b="1" dirty="0">
                <a:solidFill>
                  <a:schemeClr val="tx2"/>
                </a:solidFill>
                <a:latin typeface="+mn-ea"/>
              </a:endParaRPr>
            </a:p>
          </p:txBody>
        </p: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935" y="5495616"/>
            <a:ext cx="5115639" cy="51442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8018" y="1298167"/>
            <a:ext cx="3616915" cy="294188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5779" y="3530776"/>
            <a:ext cx="2226495" cy="222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63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>
            <a:spLocks/>
          </p:cNvSpPr>
          <p:nvPr/>
        </p:nvSpPr>
        <p:spPr>
          <a:xfrm>
            <a:off x="604163" y="964911"/>
            <a:ext cx="11012104" cy="5131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6000" indent="-216000" algn="l" defTabSz="342900" rtl="0" eaLnBrk="1" latinLnBrk="0" hangingPunct="1">
              <a:lnSpc>
                <a:spcPct val="130000"/>
              </a:lnSpc>
              <a:spcBef>
                <a:spcPct val="20000"/>
              </a:spcBef>
              <a:buSzPct val="100000"/>
              <a:buFontTx/>
              <a:buBlip>
                <a:blip r:embed="rId3"/>
              </a:buBlip>
              <a:defRPr lang="ko-KR" altLang="en-US" sz="1600" b="1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1pPr>
            <a:lvl2pPr marL="351000" indent="-17145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FontTx/>
              <a:buBlip>
                <a:blip r:embed="rId4"/>
              </a:buBlip>
              <a:defRPr lang="ko-KR" altLang="en-US" sz="14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2pPr>
            <a:lvl3pPr marL="486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3pPr>
            <a:lvl4pPr marL="648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맑은 고딕" panose="020B0503020000020004" pitchFamily="50" charset="-127"/>
              <a:buChar char="-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소프트웨어 공용 데이터</a:t>
            </a:r>
            <a:r>
              <a:rPr lang="en-US" altLang="ko-KR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(metadata.json)</a:t>
            </a:r>
          </a:p>
          <a:p>
            <a:pPr lvl="1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전체 소프트웨어 공용 데이터 활용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2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3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n-ea"/>
              </a:rPr>
              <a:t>[</a:t>
            </a:r>
            <a:r>
              <a:rPr lang="ko-KR" altLang="en-US" dirty="0">
                <a:latin typeface="+mn-ea"/>
              </a:rPr>
              <a:t>별첨</a:t>
            </a:r>
            <a:r>
              <a:rPr lang="en-US" altLang="ko-KR">
                <a:latin typeface="+mn-ea"/>
              </a:rPr>
              <a:t>] </a:t>
            </a:r>
            <a:r>
              <a:rPr lang="ko-KR" altLang="en-US" smtClean="0">
                <a:latin typeface="+mn-ea"/>
              </a:rPr>
              <a:t>소프트웨어 원격 연동 작업</a:t>
            </a:r>
            <a:endParaRPr lang="ko-KR" altLang="en-US" dirty="0">
              <a:latin typeface="+mn-ea"/>
              <a:ea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DB581B6-A32C-966D-6E5C-0C6F0D94A2D4}"/>
              </a:ext>
            </a:extLst>
          </p:cNvPr>
          <p:cNvGrpSpPr/>
          <p:nvPr/>
        </p:nvGrpSpPr>
        <p:grpSpPr>
          <a:xfrm>
            <a:off x="8846892" y="217819"/>
            <a:ext cx="2828041" cy="638715"/>
            <a:chOff x="6315958" y="170912"/>
            <a:chExt cx="2828041" cy="638715"/>
          </a:xfrm>
        </p:grpSpPr>
        <p:sp>
          <p:nvSpPr>
            <p:cNvPr id="4" name="AutoShape 39">
              <a:extLst>
                <a:ext uri="{FF2B5EF4-FFF2-40B4-BE49-F238E27FC236}">
                  <a16:creationId xmlns:a16="http://schemas.microsoft.com/office/drawing/2014/main" id="{D9519DBC-9008-2142-6196-137877D8672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chemeClr val="accent4">
                    <a:alpha val="70000"/>
                  </a:schemeClr>
                </a:gs>
                <a:gs pos="100000">
                  <a:schemeClr val="accent4">
                    <a:alpha val="10000"/>
                    <a:lumMod val="20000"/>
                    <a:lumOff val="80000"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" name="Rectangle 45">
              <a:extLst>
                <a:ext uri="{FF2B5EF4-FFF2-40B4-BE49-F238E27FC236}">
                  <a16:creationId xmlns:a16="http://schemas.microsoft.com/office/drawing/2014/main" id="{96DD40AA-3BC5-B106-7DE6-59A765653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56268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n-ea"/>
                </a:rPr>
                <a:t>㈜</a:t>
              </a:r>
              <a:r>
                <a:rPr lang="ko-KR" altLang="en-US" sz="2000" b="1" dirty="0" err="1">
                  <a:solidFill>
                    <a:schemeClr val="tx2"/>
                  </a:solidFill>
                  <a:latin typeface="+mn-ea"/>
                </a:rPr>
                <a:t>모션다이나믹스</a:t>
              </a:r>
              <a:endParaRPr lang="ko-KR" altLang="en-US" sz="2000" b="1" dirty="0">
                <a:solidFill>
                  <a:schemeClr val="tx2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6123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>
            <a:spLocks/>
          </p:cNvSpPr>
          <p:nvPr/>
        </p:nvSpPr>
        <p:spPr>
          <a:xfrm>
            <a:off x="604163" y="964911"/>
            <a:ext cx="11012104" cy="5131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6000" indent="-216000" algn="l" defTabSz="342900" rtl="0" eaLnBrk="1" latinLnBrk="0" hangingPunct="1">
              <a:lnSpc>
                <a:spcPct val="130000"/>
              </a:lnSpc>
              <a:spcBef>
                <a:spcPct val="20000"/>
              </a:spcBef>
              <a:buSzPct val="100000"/>
              <a:buFontTx/>
              <a:buBlip>
                <a:blip r:embed="rId3"/>
              </a:buBlip>
              <a:defRPr lang="ko-KR" altLang="en-US" sz="1600" b="1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1pPr>
            <a:lvl2pPr marL="351000" indent="-17145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FontTx/>
              <a:buBlip>
                <a:blip r:embed="rId4"/>
              </a:buBlip>
              <a:defRPr lang="ko-KR" altLang="en-US" sz="14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2pPr>
            <a:lvl3pPr marL="486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3pPr>
            <a:lvl4pPr marL="648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맑은 고딕" panose="020B0503020000020004" pitchFamily="50" charset="-127"/>
              <a:buChar char="-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소프트웨어 원격 연동 작업 주소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1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2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3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n-ea"/>
              </a:rPr>
              <a:t>[</a:t>
            </a:r>
            <a:r>
              <a:rPr lang="ko-KR" altLang="en-US" dirty="0">
                <a:latin typeface="+mn-ea"/>
              </a:rPr>
              <a:t>별첨</a:t>
            </a:r>
            <a:r>
              <a:rPr lang="en-US" altLang="ko-KR">
                <a:latin typeface="+mn-ea"/>
              </a:rPr>
              <a:t>] </a:t>
            </a:r>
            <a:r>
              <a:rPr lang="ko-KR" altLang="en-US" smtClean="0">
                <a:latin typeface="+mn-ea"/>
              </a:rPr>
              <a:t>소프트웨어 원격 연동 작업</a:t>
            </a:r>
            <a:endParaRPr lang="ko-KR" altLang="en-US" dirty="0">
              <a:latin typeface="+mn-ea"/>
              <a:ea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DB581B6-A32C-966D-6E5C-0C6F0D94A2D4}"/>
              </a:ext>
            </a:extLst>
          </p:cNvPr>
          <p:cNvGrpSpPr/>
          <p:nvPr/>
        </p:nvGrpSpPr>
        <p:grpSpPr>
          <a:xfrm>
            <a:off x="8846892" y="217819"/>
            <a:ext cx="2828041" cy="638715"/>
            <a:chOff x="6315958" y="170912"/>
            <a:chExt cx="2828041" cy="638715"/>
          </a:xfrm>
        </p:grpSpPr>
        <p:sp>
          <p:nvSpPr>
            <p:cNvPr id="4" name="AutoShape 39">
              <a:extLst>
                <a:ext uri="{FF2B5EF4-FFF2-40B4-BE49-F238E27FC236}">
                  <a16:creationId xmlns:a16="http://schemas.microsoft.com/office/drawing/2014/main" id="{D9519DBC-9008-2142-6196-137877D8672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chemeClr val="accent4">
                    <a:alpha val="70000"/>
                  </a:schemeClr>
                </a:gs>
                <a:gs pos="100000">
                  <a:schemeClr val="accent4">
                    <a:alpha val="10000"/>
                    <a:lumMod val="20000"/>
                    <a:lumOff val="80000"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" name="Rectangle 45">
              <a:extLst>
                <a:ext uri="{FF2B5EF4-FFF2-40B4-BE49-F238E27FC236}">
                  <a16:creationId xmlns:a16="http://schemas.microsoft.com/office/drawing/2014/main" id="{96DD40AA-3BC5-B106-7DE6-59A765653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56268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n-ea"/>
                </a:rPr>
                <a:t>㈜</a:t>
              </a:r>
              <a:r>
                <a:rPr lang="ko-KR" altLang="en-US" sz="2000" b="1" dirty="0" err="1">
                  <a:solidFill>
                    <a:schemeClr val="tx2"/>
                  </a:solidFill>
                  <a:latin typeface="+mn-ea"/>
                </a:rPr>
                <a:t>모션다이나믹스</a:t>
              </a:r>
              <a:endParaRPr lang="ko-KR" altLang="en-US" sz="2000" b="1" dirty="0">
                <a:solidFill>
                  <a:schemeClr val="tx2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0820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>
            <a:spLocks/>
          </p:cNvSpPr>
          <p:nvPr/>
        </p:nvSpPr>
        <p:spPr>
          <a:xfrm>
            <a:off x="604163" y="964911"/>
            <a:ext cx="11012104" cy="5131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6000" indent="-216000" algn="l" defTabSz="342900" rtl="0" eaLnBrk="1" latinLnBrk="0" hangingPunct="1">
              <a:lnSpc>
                <a:spcPct val="130000"/>
              </a:lnSpc>
              <a:spcBef>
                <a:spcPct val="20000"/>
              </a:spcBef>
              <a:buSzPct val="100000"/>
              <a:buFontTx/>
              <a:buBlip>
                <a:blip r:embed="rId3"/>
              </a:buBlip>
              <a:defRPr lang="ko-KR" altLang="en-US" sz="1600" b="1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1pPr>
            <a:lvl2pPr marL="351000" indent="-17145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FontTx/>
              <a:buBlip>
                <a:blip r:embed="rId4"/>
              </a:buBlip>
              <a:defRPr lang="ko-KR" altLang="en-US" sz="14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2pPr>
            <a:lvl3pPr marL="486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3pPr>
            <a:lvl4pPr marL="648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맑은 고딕" panose="020B0503020000020004" pitchFamily="50" charset="-127"/>
              <a:buChar char="-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소프트웨어 원격 연동 작업 주소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1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2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3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n-ea"/>
              </a:rPr>
              <a:t>[</a:t>
            </a:r>
            <a:r>
              <a:rPr lang="ko-KR" altLang="en-US" dirty="0">
                <a:latin typeface="+mn-ea"/>
              </a:rPr>
              <a:t>별첨</a:t>
            </a:r>
            <a:r>
              <a:rPr lang="en-US" altLang="ko-KR">
                <a:latin typeface="+mn-ea"/>
              </a:rPr>
              <a:t>] </a:t>
            </a:r>
            <a:r>
              <a:rPr lang="ko-KR" altLang="en-US" smtClean="0">
                <a:latin typeface="+mn-ea"/>
              </a:rPr>
              <a:t>소프트웨어 원격 연동 작업</a:t>
            </a:r>
            <a:endParaRPr lang="ko-KR" altLang="en-US" dirty="0">
              <a:latin typeface="+mn-ea"/>
              <a:ea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DB581B6-A32C-966D-6E5C-0C6F0D94A2D4}"/>
              </a:ext>
            </a:extLst>
          </p:cNvPr>
          <p:cNvGrpSpPr/>
          <p:nvPr/>
        </p:nvGrpSpPr>
        <p:grpSpPr>
          <a:xfrm>
            <a:off x="8846892" y="217819"/>
            <a:ext cx="2828041" cy="638715"/>
            <a:chOff x="6315958" y="170912"/>
            <a:chExt cx="2828041" cy="638715"/>
          </a:xfrm>
        </p:grpSpPr>
        <p:sp>
          <p:nvSpPr>
            <p:cNvPr id="4" name="AutoShape 39">
              <a:extLst>
                <a:ext uri="{FF2B5EF4-FFF2-40B4-BE49-F238E27FC236}">
                  <a16:creationId xmlns:a16="http://schemas.microsoft.com/office/drawing/2014/main" id="{D9519DBC-9008-2142-6196-137877D8672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chemeClr val="accent4">
                    <a:alpha val="70000"/>
                  </a:schemeClr>
                </a:gs>
                <a:gs pos="100000">
                  <a:schemeClr val="accent4">
                    <a:alpha val="10000"/>
                    <a:lumMod val="20000"/>
                    <a:lumOff val="80000"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" name="Rectangle 45">
              <a:extLst>
                <a:ext uri="{FF2B5EF4-FFF2-40B4-BE49-F238E27FC236}">
                  <a16:creationId xmlns:a16="http://schemas.microsoft.com/office/drawing/2014/main" id="{96DD40AA-3BC5-B106-7DE6-59A765653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56268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n-ea"/>
                </a:rPr>
                <a:t>㈜</a:t>
              </a:r>
              <a:r>
                <a:rPr lang="ko-KR" altLang="en-US" sz="2000" b="1" dirty="0" err="1">
                  <a:solidFill>
                    <a:schemeClr val="tx2"/>
                  </a:solidFill>
                  <a:latin typeface="+mn-ea"/>
                </a:rPr>
                <a:t>모션다이나믹스</a:t>
              </a:r>
              <a:endParaRPr lang="ko-KR" altLang="en-US" sz="2000" b="1" dirty="0">
                <a:solidFill>
                  <a:schemeClr val="tx2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9317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>
            <a:spLocks/>
          </p:cNvSpPr>
          <p:nvPr/>
        </p:nvSpPr>
        <p:spPr>
          <a:xfrm>
            <a:off x="604163" y="964911"/>
            <a:ext cx="11012104" cy="5131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6000" indent="-216000" algn="l" defTabSz="342900" rtl="0" eaLnBrk="1" latinLnBrk="0" hangingPunct="1">
              <a:lnSpc>
                <a:spcPct val="130000"/>
              </a:lnSpc>
              <a:spcBef>
                <a:spcPct val="20000"/>
              </a:spcBef>
              <a:buSzPct val="100000"/>
              <a:buFontTx/>
              <a:buBlip>
                <a:blip r:embed="rId3"/>
              </a:buBlip>
              <a:defRPr lang="ko-KR" altLang="en-US" sz="1600" b="1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1pPr>
            <a:lvl2pPr marL="351000" indent="-17145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FontTx/>
              <a:buBlip>
                <a:blip r:embed="rId4"/>
              </a:buBlip>
              <a:defRPr lang="ko-KR" altLang="en-US" sz="14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2pPr>
            <a:lvl3pPr marL="486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3pPr>
            <a:lvl4pPr marL="648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맑은 고딕" panose="020B0503020000020004" pitchFamily="50" charset="-127"/>
              <a:buChar char="-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소프트웨어 원격 연동 작업 주소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1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2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3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n-ea"/>
              </a:rPr>
              <a:t>[</a:t>
            </a:r>
            <a:r>
              <a:rPr lang="ko-KR" altLang="en-US" dirty="0">
                <a:latin typeface="+mn-ea"/>
              </a:rPr>
              <a:t>별첨</a:t>
            </a:r>
            <a:r>
              <a:rPr lang="en-US" altLang="ko-KR">
                <a:latin typeface="+mn-ea"/>
              </a:rPr>
              <a:t>] </a:t>
            </a:r>
            <a:r>
              <a:rPr lang="ko-KR" altLang="en-US" smtClean="0">
                <a:latin typeface="+mn-ea"/>
              </a:rPr>
              <a:t>소프트웨어 원격 연동 작업</a:t>
            </a:r>
            <a:endParaRPr lang="ko-KR" altLang="en-US" dirty="0">
              <a:latin typeface="+mn-ea"/>
              <a:ea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DB581B6-A32C-966D-6E5C-0C6F0D94A2D4}"/>
              </a:ext>
            </a:extLst>
          </p:cNvPr>
          <p:cNvGrpSpPr/>
          <p:nvPr/>
        </p:nvGrpSpPr>
        <p:grpSpPr>
          <a:xfrm>
            <a:off x="8846892" y="217819"/>
            <a:ext cx="2828041" cy="638715"/>
            <a:chOff x="6315958" y="170912"/>
            <a:chExt cx="2828041" cy="638715"/>
          </a:xfrm>
        </p:grpSpPr>
        <p:sp>
          <p:nvSpPr>
            <p:cNvPr id="4" name="AutoShape 39">
              <a:extLst>
                <a:ext uri="{FF2B5EF4-FFF2-40B4-BE49-F238E27FC236}">
                  <a16:creationId xmlns:a16="http://schemas.microsoft.com/office/drawing/2014/main" id="{D9519DBC-9008-2142-6196-137877D8672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chemeClr val="accent4">
                    <a:alpha val="70000"/>
                  </a:schemeClr>
                </a:gs>
                <a:gs pos="100000">
                  <a:schemeClr val="accent4">
                    <a:alpha val="10000"/>
                    <a:lumMod val="20000"/>
                    <a:lumOff val="80000"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" name="Rectangle 45">
              <a:extLst>
                <a:ext uri="{FF2B5EF4-FFF2-40B4-BE49-F238E27FC236}">
                  <a16:creationId xmlns:a16="http://schemas.microsoft.com/office/drawing/2014/main" id="{96DD40AA-3BC5-B106-7DE6-59A765653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56268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n-ea"/>
                </a:rPr>
                <a:t>㈜</a:t>
              </a:r>
              <a:r>
                <a:rPr lang="ko-KR" altLang="en-US" sz="2000" b="1" dirty="0" err="1">
                  <a:solidFill>
                    <a:schemeClr val="tx2"/>
                  </a:solidFill>
                  <a:latin typeface="+mn-ea"/>
                </a:rPr>
                <a:t>모션다이나믹스</a:t>
              </a:r>
              <a:endParaRPr lang="ko-KR" altLang="en-US" sz="2000" b="1" dirty="0">
                <a:solidFill>
                  <a:schemeClr val="tx2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2348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>
            <a:spLocks/>
          </p:cNvSpPr>
          <p:nvPr/>
        </p:nvSpPr>
        <p:spPr>
          <a:xfrm>
            <a:off x="604163" y="964911"/>
            <a:ext cx="11012104" cy="5131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6000" indent="-216000" algn="l" defTabSz="342900" rtl="0" eaLnBrk="1" latinLnBrk="0" hangingPunct="1">
              <a:lnSpc>
                <a:spcPct val="130000"/>
              </a:lnSpc>
              <a:spcBef>
                <a:spcPct val="20000"/>
              </a:spcBef>
              <a:buSzPct val="100000"/>
              <a:buFontTx/>
              <a:buBlip>
                <a:blip r:embed="rId3"/>
              </a:buBlip>
              <a:defRPr lang="ko-KR" altLang="en-US" sz="1600" b="1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1pPr>
            <a:lvl2pPr marL="351000" indent="-17145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FontTx/>
              <a:buBlip>
                <a:blip r:embed="rId4"/>
              </a:buBlip>
              <a:defRPr lang="ko-KR" altLang="en-US" sz="14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2pPr>
            <a:lvl3pPr marL="486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3pPr>
            <a:lvl4pPr marL="648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맑은 고딕" panose="020B0503020000020004" pitchFamily="50" charset="-127"/>
              <a:buChar char="-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소프트웨어 원격 연동 작업 주소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1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2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3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n-ea"/>
              </a:rPr>
              <a:t>[</a:t>
            </a:r>
            <a:r>
              <a:rPr lang="ko-KR" altLang="en-US" dirty="0">
                <a:latin typeface="+mn-ea"/>
              </a:rPr>
              <a:t>별첨</a:t>
            </a:r>
            <a:r>
              <a:rPr lang="en-US" altLang="ko-KR">
                <a:latin typeface="+mn-ea"/>
              </a:rPr>
              <a:t>] </a:t>
            </a:r>
            <a:r>
              <a:rPr lang="ko-KR" altLang="en-US" smtClean="0">
                <a:latin typeface="+mn-ea"/>
              </a:rPr>
              <a:t>소프트웨어 원격 연동 작업</a:t>
            </a:r>
            <a:endParaRPr lang="ko-KR" altLang="en-US" dirty="0">
              <a:latin typeface="+mn-ea"/>
              <a:ea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DB581B6-A32C-966D-6E5C-0C6F0D94A2D4}"/>
              </a:ext>
            </a:extLst>
          </p:cNvPr>
          <p:cNvGrpSpPr/>
          <p:nvPr/>
        </p:nvGrpSpPr>
        <p:grpSpPr>
          <a:xfrm>
            <a:off x="8846892" y="217819"/>
            <a:ext cx="2828041" cy="638715"/>
            <a:chOff x="6315958" y="170912"/>
            <a:chExt cx="2828041" cy="638715"/>
          </a:xfrm>
        </p:grpSpPr>
        <p:sp>
          <p:nvSpPr>
            <p:cNvPr id="4" name="AutoShape 39">
              <a:extLst>
                <a:ext uri="{FF2B5EF4-FFF2-40B4-BE49-F238E27FC236}">
                  <a16:creationId xmlns:a16="http://schemas.microsoft.com/office/drawing/2014/main" id="{D9519DBC-9008-2142-6196-137877D8672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chemeClr val="accent4">
                    <a:alpha val="70000"/>
                  </a:schemeClr>
                </a:gs>
                <a:gs pos="100000">
                  <a:schemeClr val="accent4">
                    <a:alpha val="10000"/>
                    <a:lumMod val="20000"/>
                    <a:lumOff val="80000"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" name="Rectangle 45">
              <a:extLst>
                <a:ext uri="{FF2B5EF4-FFF2-40B4-BE49-F238E27FC236}">
                  <a16:creationId xmlns:a16="http://schemas.microsoft.com/office/drawing/2014/main" id="{96DD40AA-3BC5-B106-7DE6-59A765653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56268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n-ea"/>
                </a:rPr>
                <a:t>㈜</a:t>
              </a:r>
              <a:r>
                <a:rPr lang="ko-KR" altLang="en-US" sz="2000" b="1" dirty="0" err="1">
                  <a:solidFill>
                    <a:schemeClr val="tx2"/>
                  </a:solidFill>
                  <a:latin typeface="+mn-ea"/>
                </a:rPr>
                <a:t>모션다이나믹스</a:t>
              </a:r>
              <a:endParaRPr lang="ko-KR" altLang="en-US" sz="2000" b="1" dirty="0">
                <a:solidFill>
                  <a:schemeClr val="tx2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8062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>
            <a:spLocks/>
          </p:cNvSpPr>
          <p:nvPr/>
        </p:nvSpPr>
        <p:spPr>
          <a:xfrm>
            <a:off x="604163" y="964911"/>
            <a:ext cx="11012104" cy="5131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6000" indent="-216000" algn="l" defTabSz="342900" rtl="0" eaLnBrk="1" latinLnBrk="0" hangingPunct="1">
              <a:lnSpc>
                <a:spcPct val="130000"/>
              </a:lnSpc>
              <a:spcBef>
                <a:spcPct val="20000"/>
              </a:spcBef>
              <a:buSzPct val="100000"/>
              <a:buFontTx/>
              <a:buBlip>
                <a:blip r:embed="rId3"/>
              </a:buBlip>
              <a:defRPr lang="ko-KR" altLang="en-US" sz="1600" b="1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1pPr>
            <a:lvl2pPr marL="351000" indent="-17145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FontTx/>
              <a:buBlip>
                <a:blip r:embed="rId4"/>
              </a:buBlip>
              <a:defRPr lang="ko-KR" altLang="en-US" sz="14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2pPr>
            <a:lvl3pPr marL="486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3pPr>
            <a:lvl4pPr marL="648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맑은 고딕" panose="020B0503020000020004" pitchFamily="50" charset="-127"/>
              <a:buChar char="-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소프트웨어 원격 연동 작업 주소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1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2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3"/>
            <a:r>
              <a:rPr lang="ko-KR" altLang="en-US" smtClean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ㅎ</a:t>
            </a:r>
            <a:endParaRPr lang="en-US" altLang="ko-KR" smtClean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n-ea"/>
              </a:rPr>
              <a:t>[</a:t>
            </a:r>
            <a:r>
              <a:rPr lang="ko-KR" altLang="en-US" dirty="0">
                <a:latin typeface="+mn-ea"/>
              </a:rPr>
              <a:t>별첨</a:t>
            </a:r>
            <a:r>
              <a:rPr lang="en-US" altLang="ko-KR">
                <a:latin typeface="+mn-ea"/>
              </a:rPr>
              <a:t>] </a:t>
            </a:r>
            <a:r>
              <a:rPr lang="ko-KR" altLang="en-US" smtClean="0">
                <a:latin typeface="+mn-ea"/>
              </a:rPr>
              <a:t>소프트웨어 원격 연동 작업</a:t>
            </a:r>
            <a:endParaRPr lang="ko-KR" altLang="en-US" dirty="0">
              <a:latin typeface="+mn-ea"/>
              <a:ea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DB581B6-A32C-966D-6E5C-0C6F0D94A2D4}"/>
              </a:ext>
            </a:extLst>
          </p:cNvPr>
          <p:cNvGrpSpPr/>
          <p:nvPr/>
        </p:nvGrpSpPr>
        <p:grpSpPr>
          <a:xfrm>
            <a:off x="8846892" y="217819"/>
            <a:ext cx="2828041" cy="638715"/>
            <a:chOff x="6315958" y="170912"/>
            <a:chExt cx="2828041" cy="638715"/>
          </a:xfrm>
        </p:grpSpPr>
        <p:sp>
          <p:nvSpPr>
            <p:cNvPr id="4" name="AutoShape 39">
              <a:extLst>
                <a:ext uri="{FF2B5EF4-FFF2-40B4-BE49-F238E27FC236}">
                  <a16:creationId xmlns:a16="http://schemas.microsoft.com/office/drawing/2014/main" id="{D9519DBC-9008-2142-6196-137877D8672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chemeClr val="accent4">
                    <a:alpha val="70000"/>
                  </a:schemeClr>
                </a:gs>
                <a:gs pos="100000">
                  <a:schemeClr val="accent4">
                    <a:alpha val="10000"/>
                    <a:lumMod val="20000"/>
                    <a:lumOff val="80000"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" name="Rectangle 45">
              <a:extLst>
                <a:ext uri="{FF2B5EF4-FFF2-40B4-BE49-F238E27FC236}">
                  <a16:creationId xmlns:a16="http://schemas.microsoft.com/office/drawing/2014/main" id="{96DD40AA-3BC5-B106-7DE6-59A765653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56268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n-ea"/>
                </a:rPr>
                <a:t>㈜</a:t>
              </a:r>
              <a:r>
                <a:rPr lang="ko-KR" altLang="en-US" sz="2000" b="1" dirty="0" err="1">
                  <a:solidFill>
                    <a:schemeClr val="tx2"/>
                  </a:solidFill>
                  <a:latin typeface="+mn-ea"/>
                </a:rPr>
                <a:t>모션다이나믹스</a:t>
              </a:r>
              <a:endParaRPr lang="ko-KR" altLang="en-US" sz="2000" b="1" dirty="0">
                <a:solidFill>
                  <a:schemeClr val="tx2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1073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343</Words>
  <Application>Microsoft Office PowerPoint</Application>
  <PresentationFormat>와이드스크린</PresentationFormat>
  <Paragraphs>87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나눔바른고딕</vt:lpstr>
      <vt:lpstr>맑은 고딕</vt:lpstr>
      <vt:lpstr>Arial</vt:lpstr>
      <vt:lpstr>Office 테마</vt:lpstr>
      <vt:lpstr>[별첨] 상세 설계: 지휘통제소</vt:lpstr>
      <vt:lpstr>[별첨] 소프트웨어 원격 연동 작업</vt:lpstr>
      <vt:lpstr>[별첨] 소프트웨어 원격 연동 작업</vt:lpstr>
      <vt:lpstr>[별첨] 소프트웨어 원격 연동 작업</vt:lpstr>
      <vt:lpstr>[별첨] 소프트웨어 원격 연동 작업</vt:lpstr>
      <vt:lpstr>[별첨] 소프트웨어 원격 연동 작업</vt:lpstr>
      <vt:lpstr>[별첨] 소프트웨어 원격 연동 작업</vt:lpstr>
      <vt:lpstr>[별첨] 소프트웨어 원격 연동 작업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[별첨] 상세 설계: 지휘통제소</dc:title>
  <dc:creator>MD-02</dc:creator>
  <cp:lastModifiedBy>MD-02</cp:lastModifiedBy>
  <cp:revision>8</cp:revision>
  <dcterms:created xsi:type="dcterms:W3CDTF">2025-11-11T12:12:25Z</dcterms:created>
  <dcterms:modified xsi:type="dcterms:W3CDTF">2025-11-11T13:41:32Z</dcterms:modified>
</cp:coreProperties>
</file>